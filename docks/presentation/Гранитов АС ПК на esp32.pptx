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sldIdLst>
    <p:sldId id="276" r:id="rId2"/>
    <p:sldId id="277" r:id="rId3"/>
    <p:sldId id="311" r:id="rId4"/>
    <p:sldId id="310" r:id="rId5"/>
    <p:sldId id="315" r:id="rId6"/>
    <p:sldId id="312" r:id="rId7"/>
    <p:sldId id="313" r:id="rId8"/>
    <p:sldId id="314" r:id="rId9"/>
    <p:sldId id="303" r:id="rId10"/>
    <p:sldId id="263" r:id="rId11"/>
    <p:sldId id="316" r:id="rId12"/>
    <p:sldId id="317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1F2D"/>
    <a:srgbClr val="C8C8C8"/>
    <a:srgbClr val="005B9E"/>
    <a:srgbClr val="004C97"/>
    <a:srgbClr val="0C2340"/>
    <a:srgbClr val="0077C8"/>
    <a:srgbClr val="EC4A2D"/>
    <a:srgbClr val="FF322D"/>
    <a:srgbClr val="0015A4"/>
    <a:srgbClr val="5180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4682" autoAdjust="0"/>
  </p:normalViewPr>
  <p:slideViewPr>
    <p:cSldViewPr snapToGrid="0" showGuides="1">
      <p:cViewPr varScale="1">
        <p:scale>
          <a:sx n="73" d="100"/>
          <a:sy n="73" d="100"/>
        </p:scale>
        <p:origin x="774" y="-23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6001DA-FC5C-427F-A308-C9D25B4E2770}" type="datetimeFigureOut">
              <a:rPr lang="ru-RU" smtClean="0"/>
              <a:t>15.11.2024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C8FB87-C662-45F9-9584-EBB6D25C23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6810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№1 (без картинки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407988" y="1412875"/>
            <a:ext cx="9574212" cy="2311083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indent="0" algn="l">
              <a:defRPr sz="40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ru-RU" dirty="0"/>
              <a:t>Тема лекции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407988" y="4398236"/>
            <a:ext cx="6278562" cy="533082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Фамилия Имя Отчество</a:t>
            </a:r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5017795"/>
            <a:ext cx="6278561" cy="50196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ru-RU" dirty="0"/>
              <a:t>Должность</a:t>
            </a:r>
          </a:p>
        </p:txBody>
      </p:sp>
    </p:spTree>
    <p:extLst>
      <p:ext uri="{BB962C8B-B14F-4D97-AF65-F5344CB8AC3E}">
        <p14:creationId xmlns:p14="http://schemas.microsoft.com/office/powerpoint/2010/main" val="39015059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21" userDrawn="1">
          <p15:clr>
            <a:srgbClr val="FBAE40"/>
          </p15:clr>
        </p15:guide>
        <p15:guide id="2" pos="257" userDrawn="1">
          <p15:clr>
            <a:srgbClr val="FBAE40"/>
          </p15:clr>
        </p15:guide>
        <p15:guide id="3" pos="6335" userDrawn="1">
          <p15:clr>
            <a:srgbClr val="FBAE40"/>
          </p15:clr>
        </p15:guide>
        <p15:guide id="4" orient="horz" pos="89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со списко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407988" y="1412875"/>
            <a:ext cx="9593262" cy="1568064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indent="0" algn="l">
              <a:defRPr sz="4000" b="1">
                <a:solidFill>
                  <a:schemeClr val="bg1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ru-RU" dirty="0"/>
              <a:t>Тема лекции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407988" y="5032761"/>
            <a:ext cx="5161280" cy="533082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Фамилия Имя Отчество</a:t>
            </a:r>
          </a:p>
        </p:txBody>
      </p:sp>
      <p:sp>
        <p:nvSpPr>
          <p:cNvPr id="14" name="Текст 13"/>
          <p:cNvSpPr>
            <a:spLocks noGrp="1"/>
          </p:cNvSpPr>
          <p:nvPr>
            <p:ph type="body" sz="quarter" idx="14" hasCustomPrompt="1"/>
          </p:nvPr>
        </p:nvSpPr>
        <p:spPr>
          <a:xfrm>
            <a:off x="2133600" y="3265488"/>
            <a:ext cx="5387975" cy="4349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lang="ru-RU" dirty="0"/>
              <a:t>Пункт №1</a:t>
            </a:r>
          </a:p>
        </p:txBody>
      </p:sp>
      <p:sp>
        <p:nvSpPr>
          <p:cNvPr id="16" name="Текст 15"/>
          <p:cNvSpPr>
            <a:spLocks noGrp="1"/>
          </p:cNvSpPr>
          <p:nvPr>
            <p:ph type="body" sz="quarter" idx="15" hasCustomPrompt="1"/>
          </p:nvPr>
        </p:nvSpPr>
        <p:spPr>
          <a:xfrm>
            <a:off x="2133600" y="3767138"/>
            <a:ext cx="5387975" cy="4565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lang="ru-RU" dirty="0"/>
              <a:t>Пункт №2</a:t>
            </a:r>
          </a:p>
        </p:txBody>
      </p:sp>
      <p:sp>
        <p:nvSpPr>
          <p:cNvPr id="18" name="Текст 17"/>
          <p:cNvSpPr>
            <a:spLocks noGrp="1"/>
          </p:cNvSpPr>
          <p:nvPr>
            <p:ph type="body" sz="quarter" idx="16" hasCustomPrompt="1"/>
          </p:nvPr>
        </p:nvSpPr>
        <p:spPr>
          <a:xfrm>
            <a:off x="2133600" y="4291013"/>
            <a:ext cx="5387975" cy="45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lang="ru-RU" dirty="0"/>
              <a:t>Пункт №3</a:t>
            </a:r>
          </a:p>
        </p:txBody>
      </p:sp>
      <p:sp>
        <p:nvSpPr>
          <p:cNvPr id="20" name="Текст 19"/>
          <p:cNvSpPr>
            <a:spLocks noGrp="1"/>
          </p:cNvSpPr>
          <p:nvPr>
            <p:ph type="body" sz="quarter" idx="17" hasCustomPrompt="1"/>
          </p:nvPr>
        </p:nvSpPr>
        <p:spPr>
          <a:xfrm>
            <a:off x="1498374" y="3265487"/>
            <a:ext cx="471487" cy="4349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lang="ru-RU" dirty="0"/>
              <a:t>1</a:t>
            </a:r>
          </a:p>
        </p:txBody>
      </p:sp>
      <p:sp>
        <p:nvSpPr>
          <p:cNvPr id="22" name="Текст 21"/>
          <p:cNvSpPr>
            <a:spLocks noGrp="1"/>
          </p:cNvSpPr>
          <p:nvPr>
            <p:ph type="body" sz="quarter" idx="18" hasCustomPrompt="1"/>
          </p:nvPr>
        </p:nvSpPr>
        <p:spPr>
          <a:xfrm>
            <a:off x="1498600" y="3767138"/>
            <a:ext cx="471488" cy="45652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lang="ru-RU" dirty="0"/>
              <a:t>2</a:t>
            </a:r>
          </a:p>
        </p:txBody>
      </p:sp>
      <p:sp>
        <p:nvSpPr>
          <p:cNvPr id="24" name="Текст 23"/>
          <p:cNvSpPr>
            <a:spLocks noGrp="1"/>
          </p:cNvSpPr>
          <p:nvPr>
            <p:ph type="body" sz="quarter" idx="19" hasCustomPrompt="1"/>
          </p:nvPr>
        </p:nvSpPr>
        <p:spPr>
          <a:xfrm>
            <a:off x="1498600" y="4291013"/>
            <a:ext cx="471488" cy="4572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lang="ru-RU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032084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>
          <p15:clr>
            <a:srgbClr val="FBAE40"/>
          </p15:clr>
        </p15:guide>
        <p15:guide id="2" pos="257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№1 (без доп.графики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 hasCustomPrompt="1"/>
          </p:nvPr>
        </p:nvSpPr>
        <p:spPr>
          <a:xfrm>
            <a:off x="371475" y="1806415"/>
            <a:ext cx="11449050" cy="3155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tx1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lang="ru-RU" dirty="0"/>
              <a:t>Подзаголовок, если нужен. Размер шрифта 20 </a:t>
            </a:r>
            <a:r>
              <a:rPr lang="ru-RU" dirty="0" err="1"/>
              <a:t>пт</a:t>
            </a:r>
            <a:endParaRPr lang="ru-RU" dirty="0"/>
          </a:p>
        </p:txBody>
      </p:sp>
      <p:sp>
        <p:nvSpPr>
          <p:cNvPr id="6" name="Номер слайда 5" title="1"/>
          <p:cNvSpPr>
            <a:spLocks noGrp="1"/>
          </p:cNvSpPr>
          <p:nvPr>
            <p:ph type="sldNum" sz="quarter" idx="12"/>
          </p:nvPr>
        </p:nvSpPr>
        <p:spPr>
          <a:xfrm>
            <a:off x="11543665" y="6159025"/>
            <a:ext cx="553720" cy="503237"/>
          </a:xfrm>
          <a:prstGeom prst="rect">
            <a:avLst/>
          </a:prstGeom>
        </p:spPr>
        <p:txBody>
          <a:bodyPr anchor="ctr" anchorCtr="0"/>
          <a:lstStyle>
            <a:lvl1pPr algn="ctr">
              <a:defRPr sz="16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6A13326-196F-47D6-8271-B6D1C4F962EF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7"/>
          <p:cNvSpPr>
            <a:spLocks noGrp="1"/>
          </p:cNvSpPr>
          <p:nvPr>
            <p:ph type="body" sz="quarter" idx="13" hasCustomPrompt="1"/>
          </p:nvPr>
        </p:nvSpPr>
        <p:spPr>
          <a:xfrm>
            <a:off x="371475" y="2209800"/>
            <a:ext cx="5778955" cy="420687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ru-RU" dirty="0"/>
              <a:t>Образец текста. Рекомендуемый размер шрифта 18 </a:t>
            </a:r>
            <a:r>
              <a:rPr lang="ru-RU" dirty="0" err="1"/>
              <a:t>пт</a:t>
            </a:r>
            <a:endParaRPr lang="ru-RU" dirty="0"/>
          </a:p>
        </p:txBody>
      </p: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1558925" y="296863"/>
            <a:ext cx="10261600" cy="1079500"/>
          </a:xfrm>
          <a:prstGeom prst="rect">
            <a:avLst/>
          </a:prstGeo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1" name="Рисунок 10"/>
          <p:cNvSpPr>
            <a:spLocks noGrp="1"/>
          </p:cNvSpPr>
          <p:nvPr>
            <p:ph type="pic" sz="quarter" idx="14"/>
          </p:nvPr>
        </p:nvSpPr>
        <p:spPr>
          <a:xfrm>
            <a:off x="6309043" y="2209800"/>
            <a:ext cx="5234622" cy="42068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892224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42" userDrawn="1">
          <p15:clr>
            <a:srgbClr val="FBAE40"/>
          </p15:clr>
        </p15:guide>
        <p15:guide id="2" pos="234" userDrawn="1">
          <p15:clr>
            <a:srgbClr val="FBAE40"/>
          </p15:clr>
        </p15:guide>
        <p15:guide id="3" orient="horz" pos="1139" userDrawn="1">
          <p15:clr>
            <a:srgbClr val="FBAE40"/>
          </p15:clr>
        </p15:guide>
        <p15:guide id="4" orient="horz" pos="867" userDrawn="1">
          <p15:clr>
            <a:srgbClr val="FBAE40"/>
          </p15:clr>
        </p15:guide>
        <p15:guide id="5" orient="horz" pos="187" userDrawn="1">
          <p15:clr>
            <a:srgbClr val="FBAE40"/>
          </p15:clr>
        </p15:guide>
        <p15:guide id="6" pos="7446" userDrawn="1">
          <p15:clr>
            <a:srgbClr val="FBAE40"/>
          </p15:clr>
        </p15:guide>
        <p15:guide id="7" pos="98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№2 (с доп.графики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 hasCustomPrompt="1"/>
          </p:nvPr>
        </p:nvSpPr>
        <p:spPr>
          <a:xfrm>
            <a:off x="579119" y="2195517"/>
            <a:ext cx="10964546" cy="4470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tx1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lang="ru-RU" dirty="0"/>
              <a:t>Подзаголовок, если нужен. Размер шрифта 20 </a:t>
            </a:r>
            <a:r>
              <a:rPr lang="ru-RU" dirty="0" err="1"/>
              <a:t>пт</a:t>
            </a:r>
            <a:endParaRPr lang="ru-RU" dirty="0"/>
          </a:p>
        </p:txBody>
      </p:sp>
      <p:sp>
        <p:nvSpPr>
          <p:cNvPr id="6" name="Номер слайда 5" title="1"/>
          <p:cNvSpPr>
            <a:spLocks noGrp="1"/>
          </p:cNvSpPr>
          <p:nvPr>
            <p:ph type="sldNum" sz="quarter" idx="12"/>
          </p:nvPr>
        </p:nvSpPr>
        <p:spPr>
          <a:xfrm>
            <a:off x="11543665" y="6165056"/>
            <a:ext cx="553720" cy="503237"/>
          </a:xfrm>
          <a:prstGeom prst="rect">
            <a:avLst/>
          </a:prstGeom>
        </p:spPr>
        <p:txBody>
          <a:bodyPr anchor="ctr" anchorCtr="0"/>
          <a:lstStyle>
            <a:lvl1pPr algn="ctr">
              <a:defRPr sz="16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6A13326-196F-47D6-8271-B6D1C4F962EF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7"/>
          <p:cNvSpPr>
            <a:spLocks noGrp="1"/>
          </p:cNvSpPr>
          <p:nvPr>
            <p:ph type="body" sz="quarter" idx="13" hasCustomPrompt="1"/>
          </p:nvPr>
        </p:nvSpPr>
        <p:spPr>
          <a:xfrm>
            <a:off x="579119" y="2707644"/>
            <a:ext cx="10964546" cy="3457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ru-RU" dirty="0"/>
              <a:t>Образец текста. Рекомендуемый размер шрифта 18 </a:t>
            </a:r>
            <a:r>
              <a:rPr lang="ru-RU" dirty="0" err="1"/>
              <a:t>пт</a:t>
            </a:r>
            <a:endParaRPr lang="ru-RU" dirty="0"/>
          </a:p>
        </p:txBody>
      </p: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1558925" y="304865"/>
            <a:ext cx="9974263" cy="1144523"/>
          </a:xfrm>
          <a:prstGeom prst="rect">
            <a:avLst/>
          </a:prstGeo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08629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4" userDrawn="1">
          <p15:clr>
            <a:srgbClr val="FBAE40"/>
          </p15:clr>
        </p15:guide>
        <p15:guide id="2" pos="347" userDrawn="1">
          <p15:clr>
            <a:srgbClr val="FBAE40"/>
          </p15:clr>
        </p15:guide>
        <p15:guide id="3" orient="horz" pos="913">
          <p15:clr>
            <a:srgbClr val="FBAE40"/>
          </p15:clr>
        </p15:guide>
        <p15:guide id="4" orient="horz" pos="686">
          <p15:clr>
            <a:srgbClr val="FBAE40"/>
          </p15:clr>
        </p15:guide>
        <p15:guide id="5" orient="horz" pos="187">
          <p15:clr>
            <a:srgbClr val="FBAE40"/>
          </p15:clr>
        </p15:guide>
        <p15:guide id="6" pos="7265" userDrawn="1">
          <p15:clr>
            <a:srgbClr val="FBAE40"/>
          </p15:clr>
        </p15:guide>
        <p15:guide id="7" pos="98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№3 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 title="1"/>
          <p:cNvSpPr>
            <a:spLocks noGrp="1"/>
          </p:cNvSpPr>
          <p:nvPr>
            <p:ph type="sldNum" sz="quarter" idx="12"/>
          </p:nvPr>
        </p:nvSpPr>
        <p:spPr>
          <a:xfrm>
            <a:off x="11543665" y="6165056"/>
            <a:ext cx="553720" cy="503237"/>
          </a:xfrm>
          <a:prstGeom prst="rect">
            <a:avLst/>
          </a:prstGeom>
        </p:spPr>
        <p:txBody>
          <a:bodyPr anchor="ctr" anchorCtr="0"/>
          <a:lstStyle>
            <a:lvl1pPr algn="ctr">
              <a:defRPr sz="16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6A13326-196F-47D6-8271-B6D1C4F962EF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9" name="Заголовок 8"/>
          <p:cNvSpPr>
            <a:spLocks noGrp="1"/>
          </p:cNvSpPr>
          <p:nvPr>
            <p:ph type="title" hasCustomPrompt="1"/>
          </p:nvPr>
        </p:nvSpPr>
        <p:spPr>
          <a:xfrm>
            <a:off x="1558925" y="296864"/>
            <a:ext cx="10261600" cy="1015140"/>
          </a:xfrm>
          <a:prstGeom prst="rect">
            <a:avLst/>
          </a:prstGeom>
        </p:spPr>
        <p:txBody>
          <a:bodyPr anchor="ctr" anchorCtr="0"/>
          <a:lstStyle>
            <a:lvl1pPr>
              <a:defRPr sz="4000">
                <a:solidFill>
                  <a:schemeClr val="tx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Тема раздела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4"/>
          </p:nvPr>
        </p:nvSpPr>
        <p:spPr>
          <a:xfrm>
            <a:off x="371475" y="1808163"/>
            <a:ext cx="5724525" cy="43568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61B3356-2A08-4B70-8EE3-0F495E93F24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867525" y="1808163"/>
            <a:ext cx="4953000" cy="3649662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030850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234" userDrawn="1">
          <p15:clr>
            <a:srgbClr val="FBAE40"/>
          </p15:clr>
        </p15:guide>
        <p15:guide id="3" orient="horz" pos="822" userDrawn="1">
          <p15:clr>
            <a:srgbClr val="FBAE40"/>
          </p15:clr>
        </p15:guide>
        <p15:guide id="4" orient="horz" pos="1139" userDrawn="1">
          <p15:clr>
            <a:srgbClr val="FBAE40"/>
          </p15:clr>
        </p15:guide>
        <p15:guide id="5" orient="horz" pos="187">
          <p15:clr>
            <a:srgbClr val="FBAE40"/>
          </p15:clr>
        </p15:guide>
        <p15:guide id="6" pos="7446">
          <p15:clr>
            <a:srgbClr val="FBAE40"/>
          </p15:clr>
        </p15:guide>
        <p15:guide id="7" pos="98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графиками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 title="1"/>
          <p:cNvSpPr>
            <a:spLocks noGrp="1"/>
          </p:cNvSpPr>
          <p:nvPr>
            <p:ph type="sldNum" sz="quarter" idx="12"/>
          </p:nvPr>
        </p:nvSpPr>
        <p:spPr>
          <a:xfrm>
            <a:off x="11543665" y="6199664"/>
            <a:ext cx="553720" cy="503237"/>
          </a:xfrm>
          <a:prstGeom prst="rect">
            <a:avLst/>
          </a:prstGeom>
        </p:spPr>
        <p:txBody>
          <a:bodyPr anchor="ctr" anchorCtr="0"/>
          <a:lstStyle>
            <a:lvl1pPr algn="ctr"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66A13326-196F-47D6-8271-B6D1C4F962EF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1558926" y="296863"/>
            <a:ext cx="9984740" cy="1152525"/>
          </a:xfrm>
          <a:prstGeom prst="rect">
            <a:avLst/>
          </a:prstGeo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4" name="Диаграмма 3"/>
          <p:cNvSpPr>
            <a:spLocks noGrp="1"/>
          </p:cNvSpPr>
          <p:nvPr>
            <p:ph type="chart" sz="quarter" idx="13"/>
          </p:nvPr>
        </p:nvSpPr>
        <p:spPr>
          <a:xfrm>
            <a:off x="371476" y="1924050"/>
            <a:ext cx="5576254" cy="45656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7" name="Диаграмма 6"/>
          <p:cNvSpPr>
            <a:spLocks noGrp="1"/>
          </p:cNvSpPr>
          <p:nvPr>
            <p:ph type="chart" sz="quarter" idx="14"/>
          </p:nvPr>
        </p:nvSpPr>
        <p:spPr>
          <a:xfrm>
            <a:off x="6244272" y="1924050"/>
            <a:ext cx="5299393" cy="45656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67127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234" userDrawn="1">
          <p15:clr>
            <a:srgbClr val="FBAE40"/>
          </p15:clr>
        </p15:guide>
        <p15:guide id="3" orient="horz" pos="913">
          <p15:clr>
            <a:srgbClr val="FBAE40"/>
          </p15:clr>
        </p15:guide>
        <p15:guide id="4" orient="horz" pos="686">
          <p15:clr>
            <a:srgbClr val="FBAE40"/>
          </p15:clr>
        </p15:guide>
        <p15:guide id="5" orient="horz" pos="187">
          <p15:clr>
            <a:srgbClr val="FBAE40"/>
          </p15:clr>
        </p15:guide>
        <p15:guide id="6" pos="7446">
          <p15:clr>
            <a:srgbClr val="FBAE40"/>
          </p15:clr>
        </p15:guide>
        <p15:guide id="7" pos="98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графиком и тексто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 title="1"/>
          <p:cNvSpPr>
            <a:spLocks noGrp="1"/>
          </p:cNvSpPr>
          <p:nvPr>
            <p:ph type="sldNum" sz="quarter" idx="12"/>
          </p:nvPr>
        </p:nvSpPr>
        <p:spPr>
          <a:xfrm>
            <a:off x="11543665" y="6199664"/>
            <a:ext cx="553720" cy="503237"/>
          </a:xfrm>
          <a:prstGeom prst="rect">
            <a:avLst/>
          </a:prstGeom>
        </p:spPr>
        <p:txBody>
          <a:bodyPr anchor="ctr" anchorCtr="0"/>
          <a:lstStyle>
            <a:lvl1pPr algn="ctr"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66A13326-196F-47D6-8271-B6D1C4F962EF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1558925" y="296863"/>
            <a:ext cx="9984739" cy="1145243"/>
          </a:xfrm>
          <a:prstGeom prst="rect">
            <a:avLst/>
          </a:prstGeo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4" name="Диаграмма 3"/>
          <p:cNvSpPr>
            <a:spLocks noGrp="1"/>
          </p:cNvSpPr>
          <p:nvPr>
            <p:ph type="chart" sz="quarter" idx="13"/>
          </p:nvPr>
        </p:nvSpPr>
        <p:spPr>
          <a:xfrm>
            <a:off x="6054723" y="1808162"/>
            <a:ext cx="5565777" cy="46815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4" hasCustomPrompt="1"/>
          </p:nvPr>
        </p:nvSpPr>
        <p:spPr>
          <a:xfrm>
            <a:off x="371475" y="1808162"/>
            <a:ext cx="5457825" cy="46815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lang="ru-RU" dirty="0"/>
              <a:t>Текст описания. Рекомендуемый размер шрифта 20 </a:t>
            </a:r>
            <a:r>
              <a:rPr lang="ru-RU" dirty="0" err="1"/>
              <a:t>пт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542830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234" userDrawn="1">
          <p15:clr>
            <a:srgbClr val="FBAE40"/>
          </p15:clr>
        </p15:guide>
        <p15:guide id="3" orient="horz" pos="913">
          <p15:clr>
            <a:srgbClr val="FBAE40"/>
          </p15:clr>
        </p15:guide>
        <p15:guide id="4" orient="horz" pos="1139" userDrawn="1">
          <p15:clr>
            <a:srgbClr val="FBAE40"/>
          </p15:clr>
        </p15:guide>
        <p15:guide id="5" orient="horz" pos="187">
          <p15:clr>
            <a:srgbClr val="FBAE40"/>
          </p15:clr>
        </p15:guide>
        <p15:guide id="6" pos="7446">
          <p15:clr>
            <a:srgbClr val="FBAE40"/>
          </p15:clr>
        </p15:guide>
        <p15:guide id="7" pos="98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ы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 title="1"/>
          <p:cNvSpPr>
            <a:spLocks noGrp="1"/>
          </p:cNvSpPr>
          <p:nvPr>
            <p:ph type="sldNum" sz="quarter" idx="12"/>
          </p:nvPr>
        </p:nvSpPr>
        <p:spPr>
          <a:xfrm>
            <a:off x="11543665" y="6159025"/>
            <a:ext cx="553720" cy="503237"/>
          </a:xfrm>
          <a:prstGeom prst="rect">
            <a:avLst/>
          </a:prstGeom>
        </p:spPr>
        <p:txBody>
          <a:bodyPr anchor="ctr" anchorCtr="0"/>
          <a:lstStyle>
            <a:lvl1pPr algn="ctr">
              <a:defRPr sz="16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6A13326-196F-47D6-8271-B6D1C4F962EF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1558925" y="307088"/>
            <a:ext cx="9984740" cy="1142300"/>
          </a:xfrm>
          <a:prstGeom prst="rect">
            <a:avLst/>
          </a:prstGeo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4" name="Таблица 3"/>
          <p:cNvSpPr>
            <a:spLocks noGrp="1"/>
          </p:cNvSpPr>
          <p:nvPr>
            <p:ph type="tbl" sz="quarter" idx="13"/>
          </p:nvPr>
        </p:nvSpPr>
        <p:spPr>
          <a:xfrm>
            <a:off x="371475" y="1808164"/>
            <a:ext cx="11449049" cy="4350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672879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42">
          <p15:clr>
            <a:srgbClr val="FBAE40"/>
          </p15:clr>
        </p15:guide>
        <p15:guide id="2" pos="234" userDrawn="1">
          <p15:clr>
            <a:srgbClr val="FBAE40"/>
          </p15:clr>
        </p15:guide>
        <p15:guide id="3" orient="horz" pos="913">
          <p15:clr>
            <a:srgbClr val="FBAE40"/>
          </p15:clr>
        </p15:guide>
        <p15:guide id="4" orient="horz" pos="1139" userDrawn="1">
          <p15:clr>
            <a:srgbClr val="FBAE40"/>
          </p15:clr>
        </p15:guide>
        <p15:guide id="5" orient="horz" pos="187">
          <p15:clr>
            <a:srgbClr val="FBAE40"/>
          </p15:clr>
        </p15:guide>
        <p15:guide id="6" pos="7446">
          <p15:clr>
            <a:srgbClr val="FBAE40"/>
          </p15:clr>
        </p15:guide>
        <p15:guide id="7" pos="98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ина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407987" y="2485389"/>
            <a:ext cx="9545637" cy="1051561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indent="363600" algn="l">
              <a:defRPr sz="4000" b="0">
                <a:solidFill>
                  <a:schemeClr val="bg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091786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>
          <p15:clr>
            <a:srgbClr val="FBAE40"/>
          </p15:clr>
        </p15:guide>
        <p15:guide id="2" pos="257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4"/>
          </p:nvPr>
        </p:nvSpPr>
        <p:spPr>
          <a:xfrm>
            <a:off x="11328400" y="6122670"/>
            <a:ext cx="5232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4CC0FA8-1054-43EA-A47F-1C68D50DEFF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7508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7" r:id="rId2"/>
    <p:sldLayoutId id="2147483650" r:id="rId3"/>
    <p:sldLayoutId id="2147483663" r:id="rId4"/>
    <p:sldLayoutId id="2147483669" r:id="rId5"/>
    <p:sldLayoutId id="2147483664" r:id="rId6"/>
    <p:sldLayoutId id="2147483668" r:id="rId7"/>
    <p:sldLayoutId id="2147483666" r:id="rId8"/>
    <p:sldLayoutId id="2147483665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jpeg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98AE1F-EF6A-4141-8199-816D5643FC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828" y="1412875"/>
            <a:ext cx="10632558" cy="2311083"/>
          </a:xfrm>
        </p:spPr>
        <p:txBody>
          <a:bodyPr>
            <a:normAutofit/>
          </a:bodyPr>
          <a:lstStyle/>
          <a:p>
            <a:pPr algn="ctr"/>
            <a:r>
              <a:rPr lang="ru-RU" spc="190" dirty="0"/>
              <a:t>	СНО кафедры А8</a:t>
            </a:r>
            <a:br>
              <a:rPr lang="ru-RU" spc="190" dirty="0"/>
            </a:br>
            <a:r>
              <a:rPr lang="ru-RU" spc="190" dirty="0"/>
              <a:t>«Полётный контроллер на </a:t>
            </a:r>
            <a:r>
              <a:rPr lang="en-US" spc="190" dirty="0"/>
              <a:t>ESP</a:t>
            </a:r>
            <a:r>
              <a:rPr lang="ru-RU" spc="190" dirty="0"/>
              <a:t>-32»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2842028-67E9-48AC-AFBA-6CD96D193A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8" y="4258536"/>
            <a:ext cx="6278562" cy="533082"/>
          </a:xfrm>
        </p:spPr>
        <p:txBody>
          <a:bodyPr/>
          <a:lstStyle/>
          <a:p>
            <a:r>
              <a:rPr lang="ru-RU" dirty="0"/>
              <a:t>Гранитов А.С.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7F15D0A-39EC-4711-9DE6-27C788C934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4674895"/>
            <a:ext cx="4672971" cy="501967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ru-RU" dirty="0"/>
              <a:t>Студент кафедры А8 «Двигатели и энергоустановки летательных аппаратов»</a:t>
            </a:r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7E7A1565-2188-2FF3-F799-639338565A4B}"/>
              </a:ext>
            </a:extLst>
          </p:cNvPr>
          <p:cNvSpPr txBox="1">
            <a:spLocks/>
          </p:cNvSpPr>
          <p:nvPr/>
        </p:nvSpPr>
        <p:spPr>
          <a:xfrm>
            <a:off x="407988" y="5189562"/>
            <a:ext cx="4672971" cy="50196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 baseline="0">
                <a:solidFill>
                  <a:schemeClr val="bg1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800" dirty="0"/>
              <a:t>Санкт-Петербург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800" dirty="0"/>
              <a:t>Ноябрь 2024</a:t>
            </a:r>
          </a:p>
        </p:txBody>
      </p:sp>
    </p:spTree>
    <p:extLst>
      <p:ext uri="{BB962C8B-B14F-4D97-AF65-F5344CB8AC3E}">
        <p14:creationId xmlns:p14="http://schemas.microsoft.com/office/powerpoint/2010/main" val="4290438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144C703-7F4C-4D28-94A1-CD1D2AAA4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3326-196F-47D6-8271-B6D1C4F962EF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EBC1C5A3-5BCF-4D19-881C-ABACA4F9E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Идея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7AFD215-6DD5-F8A9-2321-C27FB28DEE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2894" y="5038822"/>
            <a:ext cx="1401893" cy="74616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3D6E2D6-F4B8-C3A4-4B9C-0DBF797D53A3}"/>
              </a:ext>
            </a:extLst>
          </p:cNvPr>
          <p:cNvSpPr txBox="1"/>
          <p:nvPr/>
        </p:nvSpPr>
        <p:spPr>
          <a:xfrm>
            <a:off x="1023746" y="5302926"/>
            <a:ext cx="6266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i="1" dirty="0"/>
              <a:t>Образовательная программа</a:t>
            </a:r>
            <a:r>
              <a:rPr lang="en-US" i="1" dirty="0"/>
              <a:t> </a:t>
            </a:r>
            <a:r>
              <a:rPr lang="ru-RU" i="1" dirty="0"/>
              <a:t>«Подготовка кадров для БАС»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DA9DCE3-36F1-9E01-890F-95CDE256F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6327" y="4401538"/>
            <a:ext cx="1530513" cy="2172109"/>
          </a:xfrm>
          <a:prstGeom prst="rect">
            <a:avLst/>
          </a:prstGeom>
          <a:solidFill>
            <a:srgbClr val="FFFFFF">
              <a:shade val="85000"/>
            </a:srgbClr>
          </a:solidFill>
          <a:ln w="3175" cap="sq">
            <a:solidFill>
              <a:schemeClr val="tx1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77FA2E4-5D42-D57C-6614-0D8279BD6519}"/>
              </a:ext>
            </a:extLst>
          </p:cNvPr>
          <p:cNvSpPr txBox="1"/>
          <p:nvPr/>
        </p:nvSpPr>
        <p:spPr>
          <a:xfrm>
            <a:off x="5063720" y="2600054"/>
            <a:ext cx="6960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b="1" dirty="0"/>
              <a:t>+</a:t>
            </a:r>
            <a:endParaRPr lang="ru-RU" b="1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FC7134B-4E93-035E-D727-826301F9AA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993" y="1934522"/>
            <a:ext cx="3771734" cy="259306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EB488C9-C2CC-C83C-7E08-AAD3E3BDE4CD}"/>
              </a:ext>
            </a:extLst>
          </p:cNvPr>
          <p:cNvSpPr txBox="1"/>
          <p:nvPr/>
        </p:nvSpPr>
        <p:spPr>
          <a:xfrm>
            <a:off x="371475" y="4756428"/>
            <a:ext cx="297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ДАЛЬНЕЙШИЙ МОТИВАТОР</a:t>
            </a:r>
          </a:p>
        </p:txBody>
      </p: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C61081ED-DAB3-98C3-43C8-97DC69C84283}"/>
              </a:ext>
            </a:extLst>
          </p:cNvPr>
          <p:cNvGrpSpPr/>
          <p:nvPr/>
        </p:nvGrpSpPr>
        <p:grpSpPr>
          <a:xfrm>
            <a:off x="6405737" y="2215393"/>
            <a:ext cx="5140272" cy="2031325"/>
            <a:chOff x="5385592" y="2215393"/>
            <a:chExt cx="5140272" cy="2031325"/>
          </a:xfrm>
        </p:grpSpPr>
        <p:pic>
          <p:nvPicPr>
            <p:cNvPr id="12" name="Рисунок 11">
              <a:extLst>
                <a:ext uri="{FF2B5EF4-FFF2-40B4-BE49-F238E27FC236}">
                  <a16:creationId xmlns:a16="http://schemas.microsoft.com/office/drawing/2014/main" id="{B07B04CD-4ADC-DEDB-9944-ECD46870ADE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85592" y="2669720"/>
              <a:ext cx="1769706" cy="1253773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D327FE1-2B13-717F-F243-676325EEFEA9}"/>
                </a:ext>
              </a:extLst>
            </p:cNvPr>
            <p:cNvSpPr txBox="1"/>
            <p:nvPr/>
          </p:nvSpPr>
          <p:spPr>
            <a:xfrm>
              <a:off x="7272894" y="2215393"/>
              <a:ext cx="1122423" cy="203132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b="0" i="0" dirty="0">
                  <a:solidFill>
                    <a:srgbClr val="38393A"/>
                  </a:solidFill>
                  <a:effectLst/>
                  <a:latin typeface="MaisonNeue-Light"/>
                </a:rPr>
                <a:t>Dual Core</a:t>
              </a:r>
            </a:p>
            <a:p>
              <a:r>
                <a:rPr lang="en-US" b="0" i="0" dirty="0">
                  <a:solidFill>
                    <a:srgbClr val="38393A"/>
                  </a:solidFill>
                  <a:effectLst/>
                  <a:latin typeface="MaisonNeue-Light"/>
                </a:rPr>
                <a:t>240 MHz</a:t>
              </a:r>
            </a:p>
            <a:p>
              <a:r>
                <a:rPr lang="en-US" dirty="0">
                  <a:solidFill>
                    <a:srgbClr val="38393A"/>
                  </a:solidFill>
                  <a:latin typeface="MaisonNeue-Light"/>
                </a:rPr>
                <a:t>4MB flash</a:t>
              </a:r>
            </a:p>
            <a:p>
              <a:r>
                <a:rPr lang="en-US" dirty="0">
                  <a:solidFill>
                    <a:srgbClr val="38393A"/>
                  </a:solidFill>
                  <a:latin typeface="MaisonNeue-Light"/>
                </a:rPr>
                <a:t>I2C; SPI</a:t>
              </a:r>
            </a:p>
            <a:p>
              <a:r>
                <a:rPr lang="en-US" dirty="0">
                  <a:solidFill>
                    <a:srgbClr val="38393A"/>
                  </a:solidFill>
                  <a:latin typeface="MaisonNeue-Light"/>
                </a:rPr>
                <a:t>UART</a:t>
              </a:r>
            </a:p>
            <a:p>
              <a:r>
                <a:rPr lang="en-US" dirty="0" err="1">
                  <a:solidFill>
                    <a:srgbClr val="38393A"/>
                  </a:solidFill>
                  <a:latin typeface="MaisonNeue-Light"/>
                </a:rPr>
                <a:t>WiFi</a:t>
              </a:r>
              <a:endParaRPr lang="en-US" dirty="0">
                <a:solidFill>
                  <a:srgbClr val="38393A"/>
                </a:solidFill>
                <a:latin typeface="MaisonNeue-Light"/>
              </a:endParaRPr>
            </a:p>
            <a:p>
              <a:r>
                <a:rPr lang="en-US" dirty="0"/>
                <a:t>BLE</a:t>
              </a:r>
              <a:endParaRPr lang="ru-RU" dirty="0"/>
            </a:p>
          </p:txBody>
        </p:sp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39D83E12-79DC-D047-27F6-505EB525A6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12913" y="2771774"/>
              <a:ext cx="2012951" cy="9712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" name="Объект 5">
            <a:extLst>
              <a:ext uri="{FF2B5EF4-FFF2-40B4-BE49-F238E27FC236}">
                <a16:creationId xmlns:a16="http://schemas.microsoft.com/office/drawing/2014/main" id="{9F2E6510-2CE2-2A24-1BCD-D81858034C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695610"/>
            <a:ext cx="11449050" cy="31559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ПРЕДПОСЫЛКА</a:t>
            </a:r>
          </a:p>
          <a:p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03316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7686E-A915-CC61-DBA4-8FE6D1983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7620CB0-99A1-5053-BE17-70732393F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3326-196F-47D6-8271-B6D1C4F962EF}" type="slidenum">
              <a:rPr lang="ru-RU" smtClean="0"/>
              <a:pPr/>
              <a:t>3</a:t>
            </a:fld>
            <a:endParaRPr lang="ru-RU" dirty="0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09456DD0-EF6B-C859-9F6B-07E267DB1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Компонентная база</a:t>
            </a:r>
          </a:p>
        </p:txBody>
      </p:sp>
      <p:pic>
        <p:nvPicPr>
          <p:cNvPr id="1026" name="Picture 2" descr="Magnetometer/ Compass - HMC 5883L">
            <a:extLst>
              <a:ext uri="{FF2B5EF4-FFF2-40B4-BE49-F238E27FC236}">
                <a16:creationId xmlns:a16="http://schemas.microsoft.com/office/drawing/2014/main" id="{13F498EF-78FC-64D4-4372-F13B37CF23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67" t="22147" r="24667" b="20519"/>
          <a:stretch/>
        </p:blipFill>
        <p:spPr bwMode="auto">
          <a:xfrm>
            <a:off x="367733" y="2302971"/>
            <a:ext cx="2376442" cy="2099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Гироскоп + акселерометр GY-521 (MPU-6050) / Купить в RoboShop">
            <a:extLst>
              <a:ext uri="{FF2B5EF4-FFF2-40B4-BE49-F238E27FC236}">
                <a16:creationId xmlns:a16="http://schemas.microsoft.com/office/drawing/2014/main" id="{E99C8CE9-5049-1FAA-F366-42FA103357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72" t="15679" r="4198" b="17901"/>
          <a:stretch/>
        </p:blipFill>
        <p:spPr bwMode="auto">
          <a:xfrm>
            <a:off x="3094175" y="2438400"/>
            <a:ext cx="2673515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Amazon.com: LLCC68 LoRa Wireless Serial Port Module 868MHz 915MHz 22dBm  EBYTE E220-900T22D 5km Transceiver Transmitter Receiver Long Range Low  Power Consumption Small Size : Patio, Lawn &amp; Garden">
            <a:extLst>
              <a:ext uri="{FF2B5EF4-FFF2-40B4-BE49-F238E27FC236}">
                <a16:creationId xmlns:a16="http://schemas.microsoft.com/office/drawing/2014/main" id="{B7A7DC5A-BFA1-1DEB-502D-8B78365395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0554" y="2190259"/>
            <a:ext cx="2233111" cy="2233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407588F-74DE-7D6D-3511-A05CEBDC6327}"/>
              </a:ext>
            </a:extLst>
          </p:cNvPr>
          <p:cNvSpPr txBox="1"/>
          <p:nvPr/>
        </p:nvSpPr>
        <p:spPr>
          <a:xfrm>
            <a:off x="699135" y="1795527"/>
            <a:ext cx="1914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Компас </a:t>
            </a:r>
            <a:r>
              <a:rPr lang="en-US" dirty="0"/>
              <a:t>HMC5883</a:t>
            </a:r>
            <a:endParaRPr lang="ru-R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7199B8-1B0F-4A5A-7549-FA22AB964794}"/>
              </a:ext>
            </a:extLst>
          </p:cNvPr>
          <p:cNvSpPr txBox="1"/>
          <p:nvPr/>
        </p:nvSpPr>
        <p:spPr>
          <a:xfrm>
            <a:off x="3153574" y="1657027"/>
            <a:ext cx="26735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Гироскоп/акселерометр</a:t>
            </a:r>
            <a:r>
              <a:rPr lang="en-US" dirty="0"/>
              <a:t> MPU6050</a:t>
            </a:r>
            <a:endParaRPr lang="ru-R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F5DBD8-7666-CD6F-06F9-A005FC7D8693}"/>
              </a:ext>
            </a:extLst>
          </p:cNvPr>
          <p:cNvSpPr txBox="1"/>
          <p:nvPr/>
        </p:nvSpPr>
        <p:spPr>
          <a:xfrm>
            <a:off x="6605272" y="1722715"/>
            <a:ext cx="2284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Барометр </a:t>
            </a:r>
            <a:r>
              <a:rPr lang="en-US" dirty="0"/>
              <a:t>BME280</a:t>
            </a:r>
            <a:endParaRPr lang="ru-RU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C7F49C-C8DC-8904-01E0-0BB1BD6860CC}"/>
              </a:ext>
            </a:extLst>
          </p:cNvPr>
          <p:cNvSpPr txBox="1"/>
          <p:nvPr/>
        </p:nvSpPr>
        <p:spPr>
          <a:xfrm>
            <a:off x="9469887" y="1714842"/>
            <a:ext cx="1914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eByte</a:t>
            </a:r>
            <a:r>
              <a:rPr lang="en-US" dirty="0"/>
              <a:t> Lora</a:t>
            </a:r>
            <a:endParaRPr lang="ru-RU" dirty="0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35061D00-8011-2D95-D9C7-6223192C94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033" y="4449577"/>
            <a:ext cx="10049933" cy="2257204"/>
          </a:xfrm>
          <a:prstGeom prst="rect">
            <a:avLst/>
          </a:prstGeom>
        </p:spPr>
      </p:pic>
      <p:pic>
        <p:nvPicPr>
          <p:cNvPr id="1036" name="Picture 12" descr="Sensor de Presión de Aire Humedad Digital GY-BME280-5V BME280 SPI I2C  Breakout 3 Piezas | Walmart en línea">
            <a:extLst>
              <a:ext uri="{FF2B5EF4-FFF2-40B4-BE49-F238E27FC236}">
                <a16:creationId xmlns:a16="http://schemas.microsoft.com/office/drawing/2014/main" id="{10A11ACB-008E-1C81-94FD-D787C8D609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13" t="10784" r="8460" b="19064"/>
          <a:stretch/>
        </p:blipFill>
        <p:spPr bwMode="auto">
          <a:xfrm>
            <a:off x="6236489" y="2222236"/>
            <a:ext cx="2591647" cy="2227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0967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BDAED-4904-E6D5-E2D8-C9F7E606F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F664688-F719-1D31-A640-1B760ED65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3326-196F-47D6-8271-B6D1C4F962EF}" type="slidenum">
              <a:rPr lang="ru-RU" smtClean="0"/>
              <a:pPr/>
              <a:t>4</a:t>
            </a:fld>
            <a:endParaRPr lang="ru-RU" dirty="0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79C96DD8-955B-0B47-88F1-9FDBA811D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Структура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D7F53F5-B638-1230-EE33-A4A13714E4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Главные модули</a:t>
            </a:r>
          </a:p>
        </p:txBody>
      </p:sp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A93D9227-7594-07FB-6123-155625703E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5592184"/>
              </p:ext>
            </p:extLst>
          </p:nvPr>
        </p:nvGraphicFramePr>
        <p:xfrm>
          <a:off x="483618" y="2552062"/>
          <a:ext cx="3639808" cy="3022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39808">
                  <a:extLst>
                    <a:ext uri="{9D8B030D-6E8A-4147-A177-3AD203B41FA5}">
                      <a16:colId xmlns:a16="http://schemas.microsoft.com/office/drawing/2014/main" val="42276571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285750" indent="2857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ru-RU" dirty="0">
                          <a:latin typeface="Open Sans Semibold" panose="020B0706030804020204" pitchFamily="34" charset="0"/>
                          <a:ea typeface="Open Sans Semibold" panose="020B0706030804020204" pitchFamily="34" charset="0"/>
                          <a:cs typeface="Open Sans Semibold" panose="020B0706030804020204" pitchFamily="34" charset="0"/>
                        </a:rPr>
                        <a:t>Драйверы</a:t>
                      </a:r>
                    </a:p>
                    <a:p>
                      <a:pPr marL="285750" indent="2857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ru-RU" dirty="0">
                          <a:latin typeface="Open Sans Semibold" panose="020B0706030804020204" pitchFamily="34" charset="0"/>
                          <a:ea typeface="Open Sans Semibold" panose="020B0706030804020204" pitchFamily="34" charset="0"/>
                          <a:cs typeface="Open Sans Semibold" panose="020B0706030804020204" pitchFamily="34" charset="0"/>
                        </a:rPr>
                        <a:t>Сенсоры (датчики)</a:t>
                      </a:r>
                    </a:p>
                    <a:p>
                      <a:pPr marL="285750" indent="2857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ru-RU" dirty="0">
                          <a:latin typeface="Open Sans Semibold" panose="020B0706030804020204" pitchFamily="34" charset="0"/>
                          <a:ea typeface="Open Sans Semibold" panose="020B0706030804020204" pitchFamily="34" charset="0"/>
                          <a:cs typeface="Open Sans Semibold" panose="020B0706030804020204" pitchFamily="34" charset="0"/>
                        </a:rPr>
                        <a:t>Беспроводная передача данных</a:t>
                      </a:r>
                    </a:p>
                    <a:p>
                      <a:pPr marL="285750" indent="2857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ru-RU" dirty="0">
                          <a:latin typeface="Open Sans Semibold" panose="020B0706030804020204" pitchFamily="34" charset="0"/>
                          <a:ea typeface="Open Sans Semibold" panose="020B0706030804020204" pitchFamily="34" charset="0"/>
                          <a:cs typeface="Open Sans Semibold" panose="020B0706030804020204" pitchFamily="34" charset="0"/>
                        </a:rPr>
                        <a:t>Протоколы информационного взаимодействия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8427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2857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ru-RU" i="0" dirty="0">
                          <a:latin typeface="Open Sans Semibold" panose="020B0706030804020204" pitchFamily="34" charset="0"/>
                          <a:ea typeface="Open Sans Semibold" panose="020B0706030804020204" pitchFamily="34" charset="0"/>
                          <a:cs typeface="Open Sans Semibold" panose="020B0706030804020204" pitchFamily="34" charset="0"/>
                        </a:rPr>
                        <a:t>Математика</a:t>
                      </a:r>
                    </a:p>
                    <a:p>
                      <a:pPr marL="285750" indent="2857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i="0" dirty="0">
                          <a:latin typeface="Open Sans Semibold" panose="020B0706030804020204" pitchFamily="34" charset="0"/>
                          <a:ea typeface="Open Sans Semibold" panose="020B0706030804020204" pitchFamily="34" charset="0"/>
                          <a:cs typeface="Open Sans Semibold" panose="020B0706030804020204" pitchFamily="34" charset="0"/>
                        </a:rPr>
                        <a:t>Utils (</a:t>
                      </a:r>
                      <a:r>
                        <a:rPr lang="ru-RU" i="0" dirty="0">
                          <a:latin typeface="Open Sans Semibold" panose="020B0706030804020204" pitchFamily="34" charset="0"/>
                          <a:ea typeface="Open Sans Semibold" panose="020B0706030804020204" pitchFamily="34" charset="0"/>
                          <a:cs typeface="Open Sans Semibold" panose="020B0706030804020204" pitchFamily="34" charset="0"/>
                        </a:rPr>
                        <a:t>Утилиты</a:t>
                      </a:r>
                      <a:r>
                        <a:rPr lang="en-US" i="0" dirty="0">
                          <a:latin typeface="Open Sans Semibold" panose="020B0706030804020204" pitchFamily="34" charset="0"/>
                          <a:ea typeface="Open Sans Semibold" panose="020B0706030804020204" pitchFamily="34" charset="0"/>
                          <a:cs typeface="Open Sans Semibold" panose="020B0706030804020204" pitchFamily="34" charset="0"/>
                        </a:rPr>
                        <a:t>)</a:t>
                      </a:r>
                      <a:endParaRPr lang="ru-RU" i="0" dirty="0">
                        <a:latin typeface="Open Sans Semibold" panose="020B0706030804020204" pitchFamily="34" charset="0"/>
                        <a:ea typeface="Open Sans Semibold" panose="020B0706030804020204" pitchFamily="34" charset="0"/>
                        <a:cs typeface="Open Sans Semibold" panose="020B07060308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54366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2857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i="0" dirty="0">
                          <a:latin typeface="Open Sans Semibold" panose="020B0706030804020204" pitchFamily="34" charset="0"/>
                          <a:ea typeface="Open Sans Semibold" panose="020B0706030804020204" pitchFamily="34" charset="0"/>
                          <a:cs typeface="Open Sans Semibold" panose="020B0706030804020204" pitchFamily="34" charset="0"/>
                        </a:rPr>
                        <a:t>Tasks (</a:t>
                      </a:r>
                      <a:r>
                        <a:rPr lang="ru-RU" i="0" dirty="0">
                          <a:latin typeface="Open Sans Semibold" panose="020B0706030804020204" pitchFamily="34" charset="0"/>
                          <a:ea typeface="Open Sans Semibold" panose="020B0706030804020204" pitchFamily="34" charset="0"/>
                          <a:cs typeface="Open Sans Semibold" panose="020B0706030804020204" pitchFamily="34" charset="0"/>
                        </a:rPr>
                        <a:t>Задачи</a:t>
                      </a:r>
                      <a:r>
                        <a:rPr lang="en-US" i="0" dirty="0">
                          <a:latin typeface="Open Sans Semibold" panose="020B0706030804020204" pitchFamily="34" charset="0"/>
                          <a:ea typeface="Open Sans Semibold" panose="020B0706030804020204" pitchFamily="34" charset="0"/>
                          <a:cs typeface="Open Sans Semibold" panose="020B0706030804020204" pitchFamily="34" charset="0"/>
                        </a:rPr>
                        <a:t>)</a:t>
                      </a:r>
                      <a:endParaRPr lang="ru-RU" i="0" dirty="0">
                        <a:latin typeface="Open Sans Semibold" panose="020B0706030804020204" pitchFamily="34" charset="0"/>
                        <a:ea typeface="Open Sans Semibold" panose="020B0706030804020204" pitchFamily="34" charset="0"/>
                        <a:cs typeface="Open Sans Semibold" panose="020B07060308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6892327"/>
                  </a:ext>
                </a:extLst>
              </a:tr>
            </a:tbl>
          </a:graphicData>
        </a:graphic>
      </p:graphicFrame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3160894-AA83-226B-F28F-CC50280289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92" t="2238" r="518" b="1855"/>
          <a:stretch/>
        </p:blipFill>
        <p:spPr>
          <a:xfrm>
            <a:off x="4229100" y="2011681"/>
            <a:ext cx="7827169" cy="4274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540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03415F01-2510-1A30-8E16-73D56425F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Функциональный эскиз плат распределения питания и полетного контроллера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2B57E09-67E1-A4E9-1711-CF82E72D9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3326-196F-47D6-8271-B6D1C4F962EF}" type="slidenum">
              <a:rPr lang="ru-RU" smtClean="0"/>
              <a:pPr/>
              <a:t>5</a:t>
            </a:fld>
            <a:endParaRPr lang="ru-RU" dirty="0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AE836792-BB38-800C-A238-C1E844220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Разработка стека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5B568D6-0183-EDEE-9D3E-8A1D6EAC41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368" y="2393292"/>
            <a:ext cx="3889708" cy="386347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4A2C896-DF3C-16F5-CD32-9562FC1A11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0444" y="2393292"/>
            <a:ext cx="4041189" cy="386347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5591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29C23-7AC9-D579-B66C-604E1F8E0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069F867-8354-AC41-BBC2-9BA4FBFC7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3326-196F-47D6-8271-B6D1C4F962EF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9703FD3-AC8E-83EF-531A-B9F86B3BB4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6390" y="2106031"/>
            <a:ext cx="4542821" cy="4206874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В ходе работы были написаны:</a:t>
            </a:r>
            <a:endParaRPr lang="en-US" dirty="0"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Классы для работы с устройствами по шинам </a:t>
            </a:r>
            <a:r>
              <a:rPr lang="en-US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I2C</a:t>
            </a:r>
            <a:r>
              <a:rPr lang="ru-RU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, </a:t>
            </a:r>
            <a:r>
              <a:rPr lang="en-US" dirty="0" err="1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Uart</a:t>
            </a:r>
            <a:endParaRPr lang="en-US" dirty="0"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Библиотеки для</a:t>
            </a:r>
            <a:r>
              <a:rPr lang="en-US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 </a:t>
            </a:r>
            <a:r>
              <a:rPr lang="ru-RU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взаимодействия с датчиками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Библиотеки реализации фильтрации сигналов и данных</a:t>
            </a:r>
          </a:p>
          <a:p>
            <a:pPr indent="457200">
              <a:lnSpc>
                <a:spcPct val="100000"/>
              </a:lnSpc>
            </a:pPr>
            <a:r>
              <a:rPr lang="ru-RU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Реализована отладка по </a:t>
            </a:r>
            <a:r>
              <a:rPr lang="en-US" dirty="0" err="1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WiFi</a:t>
            </a:r>
            <a:r>
              <a:rPr lang="ru-RU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 (</a:t>
            </a:r>
            <a:r>
              <a:rPr lang="en-US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Sockets</a:t>
            </a:r>
            <a:r>
              <a:rPr lang="ru-RU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), радиоканалу </a:t>
            </a:r>
            <a:r>
              <a:rPr lang="en-US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Lora (433</a:t>
            </a:r>
            <a:r>
              <a:rPr lang="ru-RU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МГц</a:t>
            </a:r>
            <a:r>
              <a:rPr lang="en-US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)</a:t>
            </a:r>
            <a:endParaRPr lang="ru-RU" dirty="0"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D34A9761-9AC1-ADCF-204C-024F01D27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работы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8DC57E6-5B3E-290A-35BD-3887C7272E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6592" y="1632268"/>
            <a:ext cx="6710221" cy="515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215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1826C-1C5B-A5BC-18DF-97DC4EA05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A86E6EA-9060-BC93-0111-8AA3874FA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3326-196F-47D6-8271-B6D1C4F962EF}" type="slidenum">
              <a:rPr lang="ru-RU" smtClean="0"/>
              <a:pPr/>
              <a:t>7</a:t>
            </a:fld>
            <a:endParaRPr lang="ru-RU" dirty="0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B654DBB7-56C7-D44C-8541-36E901C48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работы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B4053BB-8D10-0AD4-2BF9-F0164DE68E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1456" y="2255155"/>
            <a:ext cx="3829506" cy="3829506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F0474CFE-2B4C-7181-8878-670CA6DEC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1015" y="2308925"/>
            <a:ext cx="3220932" cy="3721966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00845EC0-3CCF-C829-9497-B2B3A29A10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053" y="2069016"/>
            <a:ext cx="3021350" cy="4201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306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A16F0-013D-5B41-2E78-D07CE6106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FD029B7-4206-F8E4-A400-26007D8E0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3326-196F-47D6-8271-B6D1C4F962EF}" type="slidenum">
              <a:rPr lang="ru-RU" smtClean="0"/>
              <a:pPr/>
              <a:t>8</a:t>
            </a:fld>
            <a:endParaRPr lang="ru-RU" dirty="0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19341520-A189-6411-2569-D204DA629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Варианты применения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03810F5-1E38-AD32-01AD-D9E2A88159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Дальнейшее развитие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D24D558-971A-E540-A8F2-68C9B18872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352" b="16730"/>
          <a:stretch/>
        </p:blipFill>
        <p:spPr>
          <a:xfrm>
            <a:off x="455121" y="1617911"/>
            <a:ext cx="3148636" cy="273526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CA0A543-79D3-0A84-0DF9-718BEB5E6C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36" t="25062" r="2964" b="15185"/>
          <a:stretch/>
        </p:blipFill>
        <p:spPr>
          <a:xfrm>
            <a:off x="663034" y="4422300"/>
            <a:ext cx="4533980" cy="2138837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5ED81C7-8B90-3CE9-5A36-3DADDACF7C5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" r="-741" b="24321"/>
          <a:stretch/>
        </p:blipFill>
        <p:spPr>
          <a:xfrm>
            <a:off x="6428199" y="3880789"/>
            <a:ext cx="5115466" cy="2882151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150A6BD8-6CBE-7051-24F0-FBAF840B53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0776" y="1584014"/>
            <a:ext cx="3800712" cy="307971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24DAAE3-B4F8-D840-E302-626F1BD94AE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32892" r="2872" b="8395"/>
          <a:stretch/>
        </p:blipFill>
        <p:spPr>
          <a:xfrm>
            <a:off x="8202759" y="1631894"/>
            <a:ext cx="2821225" cy="224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5669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AC42039-6108-3A07-CC6A-CC4D758C2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3326-196F-47D6-8271-B6D1C4F962EF}" type="slidenum">
              <a:rPr lang="ru-RU" smtClean="0"/>
              <a:pPr/>
              <a:t>9</a:t>
            </a:fld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9A7A135-C802-EBEA-752A-D4C44B79FD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2677" y="4598553"/>
            <a:ext cx="2106204" cy="624307"/>
          </a:xfrm>
        </p:spPr>
        <p:txBody>
          <a:bodyPr/>
          <a:lstStyle/>
          <a:p>
            <a:pPr algn="ctr"/>
            <a:r>
              <a:rPr lang="ru-RU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Никитенко А. Б.  Руководитель</a:t>
            </a:r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00A6B63F-94BC-1032-0DAB-4A97BE3E4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Команда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CA65331-8362-E043-2F42-E0765DB8F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677" y="2375898"/>
            <a:ext cx="2106204" cy="210620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8799F1E-04F6-E41B-44D3-49421CAD35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3471558" y="2375898"/>
            <a:ext cx="1579654" cy="2106205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7BCFD18E-4FE2-4947-B645-3EE5A449E7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3889" y="2375897"/>
            <a:ext cx="1579655" cy="210620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7DC13A2-0DBF-417F-E0C8-1215E66AD787}"/>
              </a:ext>
            </a:extLst>
          </p:cNvPr>
          <p:cNvSpPr txBox="1"/>
          <p:nvPr/>
        </p:nvSpPr>
        <p:spPr>
          <a:xfrm>
            <a:off x="3471558" y="4587540"/>
            <a:ext cx="1579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Волков Б. К.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52C9DA-6196-3E8B-4DCD-5BD4C5A4B450}"/>
              </a:ext>
            </a:extLst>
          </p:cNvPr>
          <p:cNvSpPr txBox="1"/>
          <p:nvPr/>
        </p:nvSpPr>
        <p:spPr>
          <a:xfrm>
            <a:off x="5561753" y="4598553"/>
            <a:ext cx="1923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Гранитов А. С.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27581DE-6EFE-AF0D-7C35-FB30ECB112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6221" y="2362847"/>
            <a:ext cx="1114463" cy="213230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5EEDD2F-F285-1678-A45A-74ADF039FD5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3494" t="24654" r="12544" b="6415"/>
          <a:stretch/>
        </p:blipFill>
        <p:spPr>
          <a:xfrm>
            <a:off x="9793361" y="2365421"/>
            <a:ext cx="1715960" cy="21271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DE52F9D-376D-C1ED-8821-A77B3651AD00}"/>
              </a:ext>
            </a:extLst>
          </p:cNvPr>
          <p:cNvSpPr txBox="1"/>
          <p:nvPr/>
        </p:nvSpPr>
        <p:spPr>
          <a:xfrm>
            <a:off x="7744101" y="4598553"/>
            <a:ext cx="1715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 err="1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Пахатов</a:t>
            </a:r>
            <a:r>
              <a:rPr lang="ru-RU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 А. Г.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CD8B0F-6882-8CB8-6E83-032C26246EA4}"/>
              </a:ext>
            </a:extLst>
          </p:cNvPr>
          <p:cNvSpPr txBox="1"/>
          <p:nvPr/>
        </p:nvSpPr>
        <p:spPr>
          <a:xfrm>
            <a:off x="9689378" y="4598553"/>
            <a:ext cx="1923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Садовская А.И.</a:t>
            </a:r>
          </a:p>
        </p:txBody>
      </p:sp>
      <p:sp>
        <p:nvSpPr>
          <p:cNvPr id="14" name="Объект 13">
            <a:extLst>
              <a:ext uri="{FF2B5EF4-FFF2-40B4-BE49-F238E27FC236}">
                <a16:creationId xmlns:a16="http://schemas.microsoft.com/office/drawing/2014/main" id="{16096348-E48C-E8F4-3699-2F59BE8D3F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444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ctrTitle"/>
          </p:nvPr>
        </p:nvSpPr>
        <p:spPr>
          <a:xfrm>
            <a:off x="0" y="2618739"/>
            <a:ext cx="7335520" cy="1051561"/>
          </a:xfr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321775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6FD3BA-0A40-74AC-69A4-683A2A9074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28E79F1-194F-0F62-793D-7C6A9365A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40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637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4ED225-F539-1938-A5DE-541AF4D338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D470203-0952-E222-AA78-5130AAF7D0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872476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DCD59C7-D943-548A-9B66-0CE8C33B7A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9649" y="790303"/>
            <a:ext cx="6059464" cy="5277393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E182A3-5165-0F97-250F-D62A072496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0"/>
            <a:ext cx="6178312" cy="7059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48965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ЦВЕТА ВОЕНМЕХ">
      <a:dk1>
        <a:sysClr val="windowText" lastClr="000000"/>
      </a:dk1>
      <a:lt1>
        <a:sysClr val="window" lastClr="FFFFFF"/>
      </a:lt1>
      <a:dk2>
        <a:srgbClr val="C8C8C8"/>
      </a:dk2>
      <a:lt2>
        <a:srgbClr val="E7E6E6"/>
      </a:lt2>
      <a:accent1>
        <a:srgbClr val="0077C8"/>
      </a:accent1>
      <a:accent2>
        <a:srgbClr val="004C97"/>
      </a:accent2>
      <a:accent3>
        <a:srgbClr val="EC1F2D"/>
      </a:accent3>
      <a:accent4>
        <a:srgbClr val="FFC000"/>
      </a:accent4>
      <a:accent5>
        <a:srgbClr val="7030A0"/>
      </a:accent5>
      <a:accent6>
        <a:srgbClr val="70AD47"/>
      </a:accent6>
      <a:hlink>
        <a:srgbClr val="18589E"/>
      </a:hlink>
      <a:folHlink>
        <a:srgbClr val="0C2340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4956</TotalTime>
  <Words>188</Words>
  <Application>Microsoft Office PowerPoint</Application>
  <PresentationFormat>Широкоэкранный</PresentationFormat>
  <Paragraphs>58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21" baseType="lpstr">
      <vt:lpstr>Arial</vt:lpstr>
      <vt:lpstr>Calibri</vt:lpstr>
      <vt:lpstr>MaisonNeue-Light</vt:lpstr>
      <vt:lpstr>Open Sans</vt:lpstr>
      <vt:lpstr>Open Sans ExtraBold</vt:lpstr>
      <vt:lpstr>Open Sans Light</vt:lpstr>
      <vt:lpstr>Open Sans Semibold</vt:lpstr>
      <vt:lpstr>Times New Roman</vt:lpstr>
      <vt:lpstr>Тема Office</vt:lpstr>
      <vt:lpstr> СНО кафедры А8 «Полётный контроллер на ESP-32»</vt:lpstr>
      <vt:lpstr>Идея</vt:lpstr>
      <vt:lpstr>Компонентная база</vt:lpstr>
      <vt:lpstr>Структура</vt:lpstr>
      <vt:lpstr>Разработка стека</vt:lpstr>
      <vt:lpstr>Результаты работы</vt:lpstr>
      <vt:lpstr>Результаты работы</vt:lpstr>
      <vt:lpstr>Варианты применения</vt:lpstr>
      <vt:lpstr>Команда</vt:lpstr>
      <vt:lpstr>Спасибо за внимание!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лекции</dc:title>
  <dc:creator>Ульяна</dc:creator>
  <cp:lastModifiedBy>Anton Granitov</cp:lastModifiedBy>
  <cp:revision>101</cp:revision>
  <dcterms:created xsi:type="dcterms:W3CDTF">2022-03-05T17:31:00Z</dcterms:created>
  <dcterms:modified xsi:type="dcterms:W3CDTF">2024-11-14T22:35:20Z</dcterms:modified>
</cp:coreProperties>
</file>